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4"/>
  </p:notesMasterIdLst>
  <p:sldIdLst>
    <p:sldId id="256" r:id="rId2"/>
    <p:sldId id="717" r:id="rId3"/>
    <p:sldId id="718" r:id="rId4"/>
    <p:sldId id="719" r:id="rId5"/>
    <p:sldId id="720" r:id="rId6"/>
    <p:sldId id="721" r:id="rId7"/>
    <p:sldId id="722" r:id="rId8"/>
    <p:sldId id="723" r:id="rId9"/>
    <p:sldId id="724" r:id="rId10"/>
    <p:sldId id="725" r:id="rId11"/>
    <p:sldId id="711" r:id="rId12"/>
    <p:sldId id="30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9" d="100"/>
          <a:sy n="79" d="100"/>
        </p:scale>
        <p:origin x="739" y="8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21-09-2025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Classifying News Articles</a:t>
            </a:r>
          </a:p>
        </p:txBody>
      </p:sp>
      <p:sp>
        <p:nvSpPr>
          <p:cNvPr id="3" name="Rectangle 2">
            <a:extLst>
              <a:ext uri="{FF2B5EF4-FFF2-40B4-BE49-F238E27FC236}">
                <a16:creationId xmlns:a16="http://schemas.microsoft.com/office/drawing/2014/main" id="{72FC8B67-47CC-442A-4B51-33C4E9EA3BC1}"/>
              </a:ext>
            </a:extLst>
          </p:cNvPr>
          <p:cNvSpPr/>
          <p:nvPr/>
        </p:nvSpPr>
        <p:spPr>
          <a:xfrm>
            <a:off x="-12969" y="4594393"/>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ASHISH</a:t>
            </a:r>
          </a:p>
        </p:txBody>
      </p:sp>
      <p:sp>
        <p:nvSpPr>
          <p:cNvPr id="4" name="Rectangle 3">
            <a:extLst>
              <a:ext uri="{FF2B5EF4-FFF2-40B4-BE49-F238E27FC236}">
                <a16:creationId xmlns:a16="http://schemas.microsoft.com/office/drawing/2014/main" id="{58CEF503-2F02-0123-9E23-287EA0278D57}"/>
              </a:ext>
            </a:extLst>
          </p:cNvPr>
          <p:cNvSpPr/>
          <p:nvPr/>
        </p:nvSpPr>
        <p:spPr>
          <a:xfrm>
            <a:off x="-16210" y="5272086"/>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2025</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5AD57-FFB8-BED2-0EFA-2059E5482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E6F15-6E08-2470-CF52-4C65ACA101EF}"/>
              </a:ext>
            </a:extLst>
          </p:cNvPr>
          <p:cNvSpPr>
            <a:spLocks noGrp="1"/>
          </p:cNvSpPr>
          <p:nvPr>
            <p:ph type="title"/>
          </p:nvPr>
        </p:nvSpPr>
        <p:spPr/>
        <p:txBody>
          <a:bodyPr>
            <a:normAutofit/>
          </a:bodyPr>
          <a:lstStyle/>
          <a:p>
            <a:pPr algn="ctr"/>
            <a:r>
              <a:rPr lang="en-IN" sz="4400" dirty="0"/>
              <a:t>Classifying News Articles</a:t>
            </a:r>
          </a:p>
        </p:txBody>
      </p:sp>
      <p:sp>
        <p:nvSpPr>
          <p:cNvPr id="10" name="Content Placeholder 9">
            <a:extLst>
              <a:ext uri="{FF2B5EF4-FFF2-40B4-BE49-F238E27FC236}">
                <a16:creationId xmlns:a16="http://schemas.microsoft.com/office/drawing/2014/main" id="{E7C72126-C556-6CD4-A496-A8C2D408FD35}"/>
              </a:ext>
            </a:extLst>
          </p:cNvPr>
          <p:cNvSpPr>
            <a:spLocks noGrp="1"/>
          </p:cNvSpPr>
          <p:nvPr>
            <p:ph idx="1"/>
          </p:nvPr>
        </p:nvSpPr>
        <p:spPr>
          <a:xfrm>
            <a:off x="678883" y="1420722"/>
            <a:ext cx="10834234" cy="4398066"/>
          </a:xfrm>
        </p:spPr>
        <p:txBody>
          <a:bodyPr>
            <a:normAutofit/>
          </a:bodyPr>
          <a:lstStyle/>
          <a:p>
            <a:r>
              <a:rPr lang="en-US" sz="3600" dirty="0"/>
              <a:t>What? - Build a model to classify news headlines into categories (Politics, Sports, Business, Tech, Entertainment).</a:t>
            </a:r>
          </a:p>
          <a:p>
            <a:r>
              <a:rPr lang="en-US" sz="3600" dirty="0"/>
              <a:t>Why? - Automates content tagging for better news recommendation &amp; search.</a:t>
            </a:r>
          </a:p>
          <a:p>
            <a:r>
              <a:rPr lang="en-US" sz="3600" dirty="0"/>
              <a:t>How? - Compare ML (Logistic Regression) vs DL (LSTM) with preprocessing, embeddings, and evaluation.</a:t>
            </a:r>
          </a:p>
          <a:p>
            <a:endParaRPr lang="en-IN" sz="3600" dirty="0"/>
          </a:p>
        </p:txBody>
      </p:sp>
    </p:spTree>
    <p:extLst>
      <p:ext uri="{BB962C8B-B14F-4D97-AF65-F5344CB8AC3E}">
        <p14:creationId xmlns:p14="http://schemas.microsoft.com/office/powerpoint/2010/main" val="1760543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6A70-CAE3-C55A-0458-05C9AD8AD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46040-5C71-F125-8BF7-BADCEC244023}"/>
              </a:ext>
            </a:extLst>
          </p:cNvPr>
          <p:cNvSpPr>
            <a:spLocks noGrp="1"/>
          </p:cNvSpPr>
          <p:nvPr>
            <p:ph type="title"/>
          </p:nvPr>
        </p:nvSpPr>
        <p:spPr/>
        <p:txBody>
          <a:bodyPr>
            <a:normAutofit/>
          </a:bodyPr>
          <a:lstStyle/>
          <a:p>
            <a:pPr algn="ctr"/>
            <a:r>
              <a:rPr lang="en-IN" sz="4400" dirty="0"/>
              <a:t>Project Summary</a:t>
            </a:r>
          </a:p>
        </p:txBody>
      </p:sp>
      <p:sp>
        <p:nvSpPr>
          <p:cNvPr id="10" name="Content Placeholder 9">
            <a:extLst>
              <a:ext uri="{FF2B5EF4-FFF2-40B4-BE49-F238E27FC236}">
                <a16:creationId xmlns:a16="http://schemas.microsoft.com/office/drawing/2014/main" id="{6C397478-9C7D-ED71-ECF9-87858CC5BC77}"/>
              </a:ext>
            </a:extLst>
          </p:cNvPr>
          <p:cNvSpPr>
            <a:spLocks noGrp="1"/>
          </p:cNvSpPr>
          <p:nvPr>
            <p:ph idx="1"/>
          </p:nvPr>
        </p:nvSpPr>
        <p:spPr>
          <a:xfrm>
            <a:off x="678883" y="1420722"/>
            <a:ext cx="10834234" cy="4398066"/>
          </a:xfrm>
        </p:spPr>
        <p:txBody>
          <a:bodyPr>
            <a:normAutofit fontScale="77500" lnSpcReduction="20000"/>
          </a:bodyPr>
          <a:lstStyle/>
          <a:p>
            <a:r>
              <a:rPr lang="en-US" sz="3600" dirty="0"/>
              <a:t>This project focuses on building a machine learning system to classify news headlines into predefined categories such as politics, sports, business, technology, and entertainment. Using the HuffPost News Category Dataset from data. world, we preprocessed the headlines by applying text cleaning, tokenization, and label encoding. The dataset was split into training and testing sets (80%-20%) to ensure fair evaluation. Two models were developed and compared: a Logistic Regression model using TF-IDF features, and an LSTM model using </a:t>
            </a:r>
            <a:r>
              <a:rPr lang="en-US" sz="3600" dirty="0" err="1"/>
              <a:t>GloVe</a:t>
            </a:r>
            <a:r>
              <a:rPr lang="en-US" sz="3600" dirty="0"/>
              <a:t> word embeddings. The primary objective was to achieve at least 80% accuracy while also analyzing precision, recall, F1-score, and confusion matrices. Tools such as Python, scikit-learn, NLTK, TensorFlow/</a:t>
            </a:r>
            <a:r>
              <a:rPr lang="en-US" sz="3600" dirty="0" err="1"/>
              <a:t>Keras</a:t>
            </a:r>
            <a:r>
              <a:rPr lang="en-US" sz="3600" dirty="0"/>
              <a:t>, and Matplotlib/Seaborn were used to implement, evaluate, and visualize the results.</a:t>
            </a:r>
          </a:p>
        </p:txBody>
      </p:sp>
    </p:spTree>
    <p:extLst>
      <p:ext uri="{BB962C8B-B14F-4D97-AF65-F5344CB8AC3E}">
        <p14:creationId xmlns:p14="http://schemas.microsoft.com/office/powerpoint/2010/main" val="1564962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9B18E-6FE7-55C3-F36E-72AEB8A38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FD84B-305E-B6D6-A21E-08F8A8CA26D0}"/>
              </a:ext>
            </a:extLst>
          </p:cNvPr>
          <p:cNvSpPr>
            <a:spLocks noGrp="1"/>
          </p:cNvSpPr>
          <p:nvPr>
            <p:ph type="title"/>
          </p:nvPr>
        </p:nvSpPr>
        <p:spPr/>
        <p:txBody>
          <a:bodyPr>
            <a:normAutofit/>
          </a:bodyPr>
          <a:lstStyle/>
          <a:p>
            <a:pPr algn="ctr"/>
            <a:r>
              <a:rPr lang="en-IN" sz="4400" dirty="0"/>
              <a:t>Data &amp; Preprocessing</a:t>
            </a:r>
          </a:p>
        </p:txBody>
      </p:sp>
      <p:sp>
        <p:nvSpPr>
          <p:cNvPr id="10" name="Content Placeholder 9">
            <a:extLst>
              <a:ext uri="{FF2B5EF4-FFF2-40B4-BE49-F238E27FC236}">
                <a16:creationId xmlns:a16="http://schemas.microsoft.com/office/drawing/2014/main" id="{CD94AB7A-8EF3-F1D7-D72C-5621A9DE7A6A}"/>
              </a:ext>
            </a:extLst>
          </p:cNvPr>
          <p:cNvSpPr>
            <a:spLocks noGrp="1"/>
          </p:cNvSpPr>
          <p:nvPr>
            <p:ph idx="1"/>
          </p:nvPr>
        </p:nvSpPr>
        <p:spPr>
          <a:xfrm>
            <a:off x="678883" y="1420722"/>
            <a:ext cx="10834234" cy="4398066"/>
          </a:xfrm>
        </p:spPr>
        <p:txBody>
          <a:bodyPr>
            <a:normAutofit/>
          </a:bodyPr>
          <a:lstStyle/>
          <a:p>
            <a:r>
              <a:rPr lang="en-IN" sz="3600" dirty="0"/>
              <a:t>Lowercasing, punctuation removal</a:t>
            </a:r>
          </a:p>
          <a:p>
            <a:r>
              <a:rPr lang="en-IN" sz="3600" dirty="0"/>
              <a:t>Tokenization + </a:t>
            </a:r>
            <a:r>
              <a:rPr lang="en-IN" sz="3600" dirty="0" err="1"/>
              <a:t>stopword</a:t>
            </a:r>
            <a:r>
              <a:rPr lang="en-IN" sz="3600" dirty="0"/>
              <a:t> removal (NLTK/</a:t>
            </a:r>
            <a:r>
              <a:rPr lang="en-IN" sz="3600" dirty="0" err="1"/>
              <a:t>spaCy</a:t>
            </a:r>
            <a:r>
              <a:rPr lang="en-IN" sz="3600" dirty="0"/>
              <a:t>)</a:t>
            </a:r>
          </a:p>
          <a:p>
            <a:r>
              <a:rPr lang="en-IN" sz="3600" dirty="0"/>
              <a:t>Label encoding for target categories</a:t>
            </a:r>
          </a:p>
          <a:p>
            <a:r>
              <a:rPr lang="en-IN" sz="3600" dirty="0"/>
              <a:t>Train-test split: 80%-20%</a:t>
            </a:r>
          </a:p>
        </p:txBody>
      </p:sp>
    </p:spTree>
    <p:extLst>
      <p:ext uri="{BB962C8B-B14F-4D97-AF65-F5344CB8AC3E}">
        <p14:creationId xmlns:p14="http://schemas.microsoft.com/office/powerpoint/2010/main" val="1536494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EA81D-8D50-0F82-6943-DDBED4D2D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426C2-A065-AC31-A1F3-9C1FDEC5E81C}"/>
              </a:ext>
            </a:extLst>
          </p:cNvPr>
          <p:cNvSpPr>
            <a:spLocks noGrp="1"/>
          </p:cNvSpPr>
          <p:nvPr>
            <p:ph type="title"/>
          </p:nvPr>
        </p:nvSpPr>
        <p:spPr/>
        <p:txBody>
          <a:bodyPr>
            <a:normAutofit/>
          </a:bodyPr>
          <a:lstStyle/>
          <a:p>
            <a:pPr algn="ctr"/>
            <a:r>
              <a:rPr lang="en-IN" sz="4400" dirty="0"/>
              <a:t>EDA – Insights</a:t>
            </a:r>
          </a:p>
        </p:txBody>
      </p:sp>
      <p:sp>
        <p:nvSpPr>
          <p:cNvPr id="10" name="Content Placeholder 9">
            <a:extLst>
              <a:ext uri="{FF2B5EF4-FFF2-40B4-BE49-F238E27FC236}">
                <a16:creationId xmlns:a16="http://schemas.microsoft.com/office/drawing/2014/main" id="{7B932A58-FD94-9506-614E-6CE452F50A24}"/>
              </a:ext>
            </a:extLst>
          </p:cNvPr>
          <p:cNvSpPr>
            <a:spLocks noGrp="1"/>
          </p:cNvSpPr>
          <p:nvPr>
            <p:ph idx="1"/>
          </p:nvPr>
        </p:nvSpPr>
        <p:spPr>
          <a:xfrm>
            <a:off x="678883" y="1420722"/>
            <a:ext cx="10834234" cy="4398066"/>
          </a:xfrm>
        </p:spPr>
        <p:txBody>
          <a:bodyPr>
            <a:normAutofit/>
          </a:bodyPr>
          <a:lstStyle/>
          <a:p>
            <a:r>
              <a:rPr lang="en-US" sz="3600" dirty="0"/>
              <a:t>Distribution of news categories (Insert Bar Chart Here)</a:t>
            </a:r>
          </a:p>
          <a:p>
            <a:r>
              <a:rPr lang="en-US" sz="3600" dirty="0"/>
              <a:t>Common words/phrases (Insert Word Cloud per category)</a:t>
            </a:r>
          </a:p>
          <a:p>
            <a:r>
              <a:rPr lang="en-US" sz="3600" dirty="0"/>
              <a:t>Headline length distribution (Insert Plot Here)</a:t>
            </a:r>
          </a:p>
        </p:txBody>
      </p:sp>
    </p:spTree>
    <p:extLst>
      <p:ext uri="{BB962C8B-B14F-4D97-AF65-F5344CB8AC3E}">
        <p14:creationId xmlns:p14="http://schemas.microsoft.com/office/powerpoint/2010/main" val="2215101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969D0-9779-05D7-D4DA-E5086D2BE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2406-B917-BB49-A6BB-DC411D410453}"/>
              </a:ext>
            </a:extLst>
          </p:cNvPr>
          <p:cNvSpPr>
            <a:spLocks noGrp="1"/>
          </p:cNvSpPr>
          <p:nvPr>
            <p:ph type="title"/>
          </p:nvPr>
        </p:nvSpPr>
        <p:spPr/>
        <p:txBody>
          <a:bodyPr>
            <a:normAutofit/>
          </a:bodyPr>
          <a:lstStyle/>
          <a:p>
            <a:pPr algn="ctr"/>
            <a:r>
              <a:rPr lang="en-IN" sz="4400" dirty="0"/>
              <a:t>Model 1 – Logistic Regression</a:t>
            </a:r>
          </a:p>
        </p:txBody>
      </p:sp>
      <p:sp>
        <p:nvSpPr>
          <p:cNvPr id="10" name="Content Placeholder 9">
            <a:extLst>
              <a:ext uri="{FF2B5EF4-FFF2-40B4-BE49-F238E27FC236}">
                <a16:creationId xmlns:a16="http://schemas.microsoft.com/office/drawing/2014/main" id="{135BA037-3DB5-0D71-4572-696E91FDD642}"/>
              </a:ext>
            </a:extLst>
          </p:cNvPr>
          <p:cNvSpPr>
            <a:spLocks noGrp="1"/>
          </p:cNvSpPr>
          <p:nvPr>
            <p:ph idx="1"/>
          </p:nvPr>
        </p:nvSpPr>
        <p:spPr>
          <a:xfrm>
            <a:off x="678883" y="1420722"/>
            <a:ext cx="10834234" cy="4398066"/>
          </a:xfrm>
        </p:spPr>
        <p:txBody>
          <a:bodyPr>
            <a:normAutofit/>
          </a:bodyPr>
          <a:lstStyle/>
          <a:p>
            <a:r>
              <a:rPr lang="en-IN" sz="3600" dirty="0"/>
              <a:t>Features: TF-IDF vectors</a:t>
            </a:r>
          </a:p>
          <a:p>
            <a:r>
              <a:rPr lang="en-IN" sz="3600" dirty="0"/>
              <a:t>Algorithm: Logistic Regression</a:t>
            </a:r>
          </a:p>
          <a:p>
            <a:r>
              <a:rPr lang="en-IN" sz="3600" dirty="0"/>
              <a:t>Pros: Simple, interpretable</a:t>
            </a:r>
          </a:p>
          <a:p>
            <a:r>
              <a:rPr lang="en-IN" sz="3600" dirty="0"/>
              <a:t>Performance metrics: Insert Accuracy, Precision, Recall, F1</a:t>
            </a:r>
          </a:p>
        </p:txBody>
      </p:sp>
    </p:spTree>
    <p:extLst>
      <p:ext uri="{BB962C8B-B14F-4D97-AF65-F5344CB8AC3E}">
        <p14:creationId xmlns:p14="http://schemas.microsoft.com/office/powerpoint/2010/main" val="1362791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0A322-D67D-8B8D-2F94-38DD53017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00207-B77B-7F15-CEA2-3CA87BE53683}"/>
              </a:ext>
            </a:extLst>
          </p:cNvPr>
          <p:cNvSpPr>
            <a:spLocks noGrp="1"/>
          </p:cNvSpPr>
          <p:nvPr>
            <p:ph type="title"/>
          </p:nvPr>
        </p:nvSpPr>
        <p:spPr/>
        <p:txBody>
          <a:bodyPr>
            <a:normAutofit/>
          </a:bodyPr>
          <a:lstStyle/>
          <a:p>
            <a:pPr algn="ctr"/>
            <a:r>
              <a:rPr lang="en-US" sz="4400" dirty="0"/>
              <a:t>Model 2 – LSTM (Deep Learning)</a:t>
            </a:r>
            <a:endParaRPr lang="en-IN" sz="4400" dirty="0"/>
          </a:p>
        </p:txBody>
      </p:sp>
      <p:sp>
        <p:nvSpPr>
          <p:cNvPr id="10" name="Content Placeholder 9">
            <a:extLst>
              <a:ext uri="{FF2B5EF4-FFF2-40B4-BE49-F238E27FC236}">
                <a16:creationId xmlns:a16="http://schemas.microsoft.com/office/drawing/2014/main" id="{B4EA8687-B9A5-06BE-40BD-5EDCB046D15E}"/>
              </a:ext>
            </a:extLst>
          </p:cNvPr>
          <p:cNvSpPr>
            <a:spLocks noGrp="1"/>
          </p:cNvSpPr>
          <p:nvPr>
            <p:ph idx="1"/>
          </p:nvPr>
        </p:nvSpPr>
        <p:spPr>
          <a:xfrm>
            <a:off x="678883" y="1420722"/>
            <a:ext cx="10834234" cy="4398066"/>
          </a:xfrm>
        </p:spPr>
        <p:txBody>
          <a:bodyPr>
            <a:normAutofit/>
          </a:bodyPr>
          <a:lstStyle/>
          <a:p>
            <a:r>
              <a:rPr lang="en-IN" sz="3600" dirty="0"/>
              <a:t>Features: Word embeddings (</a:t>
            </a:r>
            <a:r>
              <a:rPr lang="en-IN" sz="3600" dirty="0" err="1"/>
              <a:t>GloVe</a:t>
            </a:r>
            <a:r>
              <a:rPr lang="en-IN" sz="3600" dirty="0"/>
              <a:t> vectors)</a:t>
            </a:r>
          </a:p>
          <a:p>
            <a:r>
              <a:rPr lang="en-IN" sz="3600" dirty="0"/>
              <a:t>Algorithm: LSTM network</a:t>
            </a:r>
          </a:p>
          <a:p>
            <a:r>
              <a:rPr lang="en-IN" sz="3600" dirty="0"/>
              <a:t>Pros: Captures word order/context</a:t>
            </a:r>
          </a:p>
          <a:p>
            <a:r>
              <a:rPr lang="en-IN" sz="3600" dirty="0"/>
              <a:t>Performance metrics: Insert Accuracy, Precision, Recall, F1</a:t>
            </a:r>
          </a:p>
        </p:txBody>
      </p:sp>
    </p:spTree>
    <p:extLst>
      <p:ext uri="{BB962C8B-B14F-4D97-AF65-F5344CB8AC3E}">
        <p14:creationId xmlns:p14="http://schemas.microsoft.com/office/powerpoint/2010/main" val="225851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BB7D-CF13-058B-26FC-F3B806F6B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A375D-1639-970B-56E8-97F53996FDFA}"/>
              </a:ext>
            </a:extLst>
          </p:cNvPr>
          <p:cNvSpPr>
            <a:spLocks noGrp="1"/>
          </p:cNvSpPr>
          <p:nvPr>
            <p:ph type="title"/>
          </p:nvPr>
        </p:nvSpPr>
        <p:spPr/>
        <p:txBody>
          <a:bodyPr>
            <a:normAutofit/>
          </a:bodyPr>
          <a:lstStyle/>
          <a:p>
            <a:pPr algn="ctr"/>
            <a:r>
              <a:rPr lang="en-IN" sz="4400" dirty="0"/>
              <a:t>Evaluation &amp; Visualization</a:t>
            </a:r>
          </a:p>
        </p:txBody>
      </p:sp>
      <p:sp>
        <p:nvSpPr>
          <p:cNvPr id="10" name="Content Placeholder 9">
            <a:extLst>
              <a:ext uri="{FF2B5EF4-FFF2-40B4-BE49-F238E27FC236}">
                <a16:creationId xmlns:a16="http://schemas.microsoft.com/office/drawing/2014/main" id="{575FD188-B45E-02EC-9221-AF4945A2E4A7}"/>
              </a:ext>
            </a:extLst>
          </p:cNvPr>
          <p:cNvSpPr>
            <a:spLocks noGrp="1"/>
          </p:cNvSpPr>
          <p:nvPr>
            <p:ph idx="1"/>
          </p:nvPr>
        </p:nvSpPr>
        <p:spPr>
          <a:xfrm>
            <a:off x="678883" y="1420722"/>
            <a:ext cx="10834234" cy="4398066"/>
          </a:xfrm>
        </p:spPr>
        <p:txBody>
          <a:bodyPr>
            <a:normAutofit/>
          </a:bodyPr>
          <a:lstStyle/>
          <a:p>
            <a:r>
              <a:rPr lang="fr-FR" sz="3600" dirty="0"/>
              <a:t>Insert Confusion Matrix (</a:t>
            </a:r>
            <a:r>
              <a:rPr lang="fr-FR" sz="3600" dirty="0" err="1"/>
              <a:t>Logistic</a:t>
            </a:r>
            <a:r>
              <a:rPr lang="fr-FR" sz="3600" dirty="0"/>
              <a:t> </a:t>
            </a:r>
            <a:r>
              <a:rPr lang="fr-FR" sz="3600" dirty="0" err="1"/>
              <a:t>Regression</a:t>
            </a:r>
            <a:r>
              <a:rPr lang="fr-FR" sz="3600" dirty="0"/>
              <a:t>)</a:t>
            </a:r>
          </a:p>
          <a:p>
            <a:r>
              <a:rPr lang="fr-FR" sz="3600" dirty="0"/>
              <a:t>Insert Confusion Matrix (LSTM)</a:t>
            </a:r>
          </a:p>
          <a:p>
            <a:r>
              <a:rPr lang="fr-FR" sz="3600" dirty="0"/>
              <a:t>Insert </a:t>
            </a:r>
            <a:r>
              <a:rPr lang="fr-FR" sz="3600" dirty="0" err="1"/>
              <a:t>Accuracy</a:t>
            </a:r>
            <a:r>
              <a:rPr lang="fr-FR" sz="3600" dirty="0"/>
              <a:t> </a:t>
            </a:r>
            <a:r>
              <a:rPr lang="fr-FR" sz="3600" dirty="0" err="1"/>
              <a:t>Comparison</a:t>
            </a:r>
            <a:r>
              <a:rPr lang="fr-FR" sz="3600" dirty="0"/>
              <a:t> Chart</a:t>
            </a:r>
          </a:p>
        </p:txBody>
      </p:sp>
    </p:spTree>
    <p:extLst>
      <p:ext uri="{BB962C8B-B14F-4D97-AF65-F5344CB8AC3E}">
        <p14:creationId xmlns:p14="http://schemas.microsoft.com/office/powerpoint/2010/main" val="3459606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72928-B3C3-0BD3-F4C6-8A950389A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1DF6B-230C-18D1-6A64-99447794535F}"/>
              </a:ext>
            </a:extLst>
          </p:cNvPr>
          <p:cNvSpPr>
            <a:spLocks noGrp="1"/>
          </p:cNvSpPr>
          <p:nvPr>
            <p:ph type="title"/>
          </p:nvPr>
        </p:nvSpPr>
        <p:spPr/>
        <p:txBody>
          <a:bodyPr>
            <a:normAutofit/>
          </a:bodyPr>
          <a:lstStyle/>
          <a:p>
            <a:pPr algn="ctr"/>
            <a:r>
              <a:rPr lang="en-IN" sz="4400" dirty="0"/>
              <a:t>Model Comparison</a:t>
            </a:r>
          </a:p>
        </p:txBody>
      </p:sp>
      <p:sp>
        <p:nvSpPr>
          <p:cNvPr id="10" name="Content Placeholder 9">
            <a:extLst>
              <a:ext uri="{FF2B5EF4-FFF2-40B4-BE49-F238E27FC236}">
                <a16:creationId xmlns:a16="http://schemas.microsoft.com/office/drawing/2014/main" id="{1EF99BF7-0AE2-BA25-BB27-3A293E079B72}"/>
              </a:ext>
            </a:extLst>
          </p:cNvPr>
          <p:cNvSpPr>
            <a:spLocks noGrp="1"/>
          </p:cNvSpPr>
          <p:nvPr>
            <p:ph idx="1"/>
          </p:nvPr>
        </p:nvSpPr>
        <p:spPr>
          <a:xfrm>
            <a:off x="678883" y="1420722"/>
            <a:ext cx="10834234" cy="4398066"/>
          </a:xfrm>
        </p:spPr>
        <p:txBody>
          <a:bodyPr>
            <a:normAutofit/>
          </a:bodyPr>
          <a:lstStyle/>
          <a:p>
            <a:r>
              <a:rPr lang="en-IN" sz="3600" dirty="0"/>
              <a:t>Features: TF-IDF vectors</a:t>
            </a:r>
          </a:p>
          <a:p>
            <a:r>
              <a:rPr lang="en-IN" sz="3600" dirty="0"/>
              <a:t>Algorithm: Logistic Regression</a:t>
            </a:r>
          </a:p>
          <a:p>
            <a:r>
              <a:rPr lang="en-IN" sz="3600" dirty="0"/>
              <a:t>Pros: Simple, interpretable</a:t>
            </a:r>
          </a:p>
          <a:p>
            <a:r>
              <a:rPr lang="en-IN" sz="3600" dirty="0"/>
              <a:t>Performance metrics: Insert Accuracy, Precision, Recall, F1</a:t>
            </a:r>
          </a:p>
        </p:txBody>
      </p:sp>
    </p:spTree>
    <p:extLst>
      <p:ext uri="{BB962C8B-B14F-4D97-AF65-F5344CB8AC3E}">
        <p14:creationId xmlns:p14="http://schemas.microsoft.com/office/powerpoint/2010/main" val="2456887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82B2B-044A-F2D5-9D52-5BF49A341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03063-9E07-9717-AB5C-981E7B50FA75}"/>
              </a:ext>
            </a:extLst>
          </p:cNvPr>
          <p:cNvSpPr>
            <a:spLocks noGrp="1"/>
          </p:cNvSpPr>
          <p:nvPr>
            <p:ph type="title"/>
          </p:nvPr>
        </p:nvSpPr>
        <p:spPr/>
        <p:txBody>
          <a:bodyPr>
            <a:normAutofit/>
          </a:bodyPr>
          <a:lstStyle/>
          <a:p>
            <a:pPr algn="ctr"/>
            <a:r>
              <a:rPr lang="en-IN" sz="4400" dirty="0"/>
              <a:t>Conclusion &amp; Recommendations</a:t>
            </a:r>
          </a:p>
        </p:txBody>
      </p:sp>
      <p:sp>
        <p:nvSpPr>
          <p:cNvPr id="10" name="Content Placeholder 9">
            <a:extLst>
              <a:ext uri="{FF2B5EF4-FFF2-40B4-BE49-F238E27FC236}">
                <a16:creationId xmlns:a16="http://schemas.microsoft.com/office/drawing/2014/main" id="{8CF81C0C-7EF1-76BE-E9D6-C251437A9651}"/>
              </a:ext>
            </a:extLst>
          </p:cNvPr>
          <p:cNvSpPr>
            <a:spLocks noGrp="1"/>
          </p:cNvSpPr>
          <p:nvPr>
            <p:ph idx="1"/>
          </p:nvPr>
        </p:nvSpPr>
        <p:spPr>
          <a:xfrm>
            <a:off x="678883" y="1420722"/>
            <a:ext cx="10834234" cy="4398066"/>
          </a:xfrm>
        </p:spPr>
        <p:txBody>
          <a:bodyPr>
            <a:normAutofit/>
          </a:bodyPr>
          <a:lstStyle/>
          <a:p>
            <a:r>
              <a:rPr lang="en-US" sz="3600" dirty="0"/>
              <a:t>Both models performed well; LSTM outperformed slightly</a:t>
            </a:r>
          </a:p>
          <a:p>
            <a:r>
              <a:rPr lang="en-US" sz="3600" dirty="0"/>
              <a:t>Logistic Regression: Good for baseline models</a:t>
            </a:r>
          </a:p>
          <a:p>
            <a:r>
              <a:rPr lang="en-US" sz="3600" dirty="0"/>
              <a:t>LSTM: Recommended for production if resources allow</a:t>
            </a:r>
          </a:p>
          <a:p>
            <a:r>
              <a:rPr lang="en-US" sz="3600" dirty="0"/>
              <a:t>Future Work: Try transformer-based models (BERT, </a:t>
            </a:r>
            <a:r>
              <a:rPr lang="en-US" sz="3600" dirty="0" err="1"/>
              <a:t>DistilBERT</a:t>
            </a:r>
            <a:r>
              <a:rPr lang="en-US" sz="3600" dirty="0"/>
              <a:t>)</a:t>
            </a:r>
          </a:p>
        </p:txBody>
      </p:sp>
    </p:spTree>
    <p:extLst>
      <p:ext uri="{BB962C8B-B14F-4D97-AF65-F5344CB8AC3E}">
        <p14:creationId xmlns:p14="http://schemas.microsoft.com/office/powerpoint/2010/main" val="1915826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6970</TotalTime>
  <Words>435</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BIA Template</vt:lpstr>
      <vt:lpstr>PowerPoint Presentation</vt:lpstr>
      <vt:lpstr>Classifying News Articles</vt:lpstr>
      <vt:lpstr>Project Summary</vt:lpstr>
      <vt:lpstr>Data &amp; Preprocessing</vt:lpstr>
      <vt:lpstr>EDA – Insights</vt:lpstr>
      <vt:lpstr>Model 1 – Logistic Regression</vt:lpstr>
      <vt:lpstr>Model 2 – LSTM (Deep Learning)</vt:lpstr>
      <vt:lpstr>Evaluation &amp; Visualization</vt:lpstr>
      <vt:lpstr>Model Comparison</vt:lpstr>
      <vt:lpstr>Conclusion &amp; Recommendations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Ashish Thakur</cp:lastModifiedBy>
  <cp:revision>2256</cp:revision>
  <dcterms:created xsi:type="dcterms:W3CDTF">2020-12-23T13:36:00Z</dcterms:created>
  <dcterms:modified xsi:type="dcterms:W3CDTF">2025-09-21T09:24:04Z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